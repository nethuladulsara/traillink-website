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6" r:id="rId13"/>
    <p:sldId id="274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710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B020"/>
                </a:solidFill>
                <a:latin typeface="Calibri"/>
              </a:defRPr>
            </a:pPr>
            <a:r>
              <a:t>FINAL RESEARCH PRESENTATION  ·  R26-IT-135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3901" y="16459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EEF2F5"/>
                </a:solidFill>
                <a:latin typeface="Calibri"/>
              </a:defRPr>
            </a:pPr>
            <a:r>
              <a:rPr dirty="0" err="1"/>
              <a:t>TrailLink</a:t>
            </a:r>
            <a:r>
              <a:rPr dirty="0"/>
              <a:t>: Hybrid Communication &amp;</a:t>
            </a:r>
            <a:br>
              <a:rPr dirty="0"/>
            </a:br>
            <a:r>
              <a:rPr dirty="0"/>
              <a:t>Safety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2468880" cy="16459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4005072"/>
            <a:ext cx="2139696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F2F5"/>
                </a:solidFill>
                <a:latin typeface="Calibri"/>
              </a:defRPr>
            </a:pPr>
            <a:r>
              <a:t>Thanujana D. O.</a:t>
            </a:r>
          </a:p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t>IT22148704</a:t>
            </a:r>
          </a:p>
          <a:p>
            <a:pPr>
              <a:defRPr sz="1150">
                <a:solidFill>
                  <a:srgbClr val="B8C6D2"/>
                </a:solidFill>
                <a:latin typeface="Calibri"/>
              </a:defRPr>
            </a:pPr>
            <a:r>
              <a:t>Mesh Intelligence &amp; Compass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840480"/>
            <a:ext cx="2468880" cy="16459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39312" y="4005072"/>
            <a:ext cx="2139696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F2F5"/>
                </a:solidFill>
                <a:latin typeface="Calibri"/>
              </a:defRPr>
            </a:pPr>
            <a:r>
              <a:t>Pabodhana D. M. D. I.</a:t>
            </a:r>
          </a:p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t>IT22168290</a:t>
            </a:r>
          </a:p>
          <a:p>
            <a:pPr>
              <a:defRPr sz="1150">
                <a:solidFill>
                  <a:srgbClr val="B8C6D2"/>
                </a:solidFill>
                <a:latin typeface="Calibri"/>
              </a:defRPr>
            </a:pPr>
            <a:r>
              <a:t>Communication Core &amp; Relay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2468880" cy="16459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4005072"/>
            <a:ext cx="2139696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F2F5"/>
                </a:solidFill>
                <a:latin typeface="Calibri"/>
              </a:defRPr>
            </a:pPr>
            <a:r>
              <a:t>Dulsara H. G. N.</a:t>
            </a:r>
          </a:p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t>IT22544490</a:t>
            </a:r>
          </a:p>
          <a:p>
            <a:pPr>
              <a:defRPr sz="1150">
                <a:solidFill>
                  <a:srgbClr val="B8C6D2"/>
                </a:solidFill>
                <a:latin typeface="Calibri"/>
              </a:defRPr>
            </a:pPr>
            <a:r>
              <a:t>Location, Mapping &amp; SOS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840480"/>
            <a:ext cx="2468880" cy="16459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25712" y="4005072"/>
            <a:ext cx="2139696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F2F5"/>
                </a:solidFill>
                <a:latin typeface="Calibri"/>
              </a:defRPr>
            </a:pPr>
            <a:r>
              <a:t>Vitharana G. G.</a:t>
            </a:r>
          </a:p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t>IT22894038</a:t>
            </a:r>
          </a:p>
          <a:p>
            <a:pPr>
              <a:defRPr sz="1150">
                <a:solidFill>
                  <a:srgbClr val="B8C6D2"/>
                </a:solidFill>
                <a:latin typeface="Calibri"/>
              </a:defRPr>
            </a:pPr>
            <a:r>
              <a:t>Voice &amp; Push-to-Talk (PTT)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296AA"/>
                </a:solidFill>
                <a:latin typeface="Calibri"/>
              </a:defRPr>
            </a:pPr>
            <a:r>
              <a:t>Faculty of Computing  ·  Sri Lanka Institute of Information Technology (SLIIT)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4306D-994D-BDD2-1DD8-27C8FF695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A91A45-6A35-E382-07E0-6B0687232BC2}"/>
              </a:ext>
            </a:extLst>
          </p:cNvPr>
          <p:cNvSpPr/>
          <p:nvPr/>
        </p:nvSpPr>
        <p:spPr>
          <a:xfrm>
            <a:off x="0" y="-9331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2D0D3-8993-E0D2-A6CE-8684AE58E45E}"/>
              </a:ext>
            </a:extLst>
          </p:cNvPr>
          <p:cNvSpPr txBox="1"/>
          <p:nvPr/>
        </p:nvSpPr>
        <p:spPr>
          <a:xfrm>
            <a:off x="731520" y="731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B020"/>
                </a:solidFill>
                <a:latin typeface="Calibri"/>
              </a:defRPr>
            </a:pPr>
            <a:r>
              <a:rPr dirty="0"/>
              <a:t>FINAL RESEARCH PRESENTATION  ·  R26-IT-135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58785D-0768-9D5C-407F-83FF5BFA1559}"/>
              </a:ext>
            </a:extLst>
          </p:cNvPr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296AA"/>
                </a:solidFill>
                <a:latin typeface="Calibri"/>
              </a:defRPr>
            </a:pPr>
            <a:r>
              <a:t>Faculty of Computing  ·  Sri Lanka Institute of Information Technology (SLIIT)  ·  2026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63092CD-5137-F260-822C-C59443A7F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2" y="1190625"/>
            <a:ext cx="1115377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84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EF2F5"/>
                </a:solidFill>
                <a:latin typeface="Calibri"/>
              </a:defRPr>
            </a:pPr>
            <a:r>
              <a:t>Why this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296AA"/>
                </a:solidFill>
                <a:latin typeface="Calibri"/>
              </a:defRPr>
            </a:pPr>
            <a:r>
              <a:t>R26-IT-135  ·  TrailLink                                                                                                                                 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EF2F5"/>
                </a:solidFill>
                <a:latin typeface="Calibri"/>
              </a:defRPr>
            </a:pPr>
            <a:r>
              <a:t>In off-grid wilderness and disaster zones, public cellular infrastructure completely fails.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3383280" cy="237744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01752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F2F5"/>
                </a:solidFill>
                <a:latin typeface="Calibri"/>
              </a:defRPr>
            </a:pPr>
            <a:r>
              <a:rPr dirty="0"/>
              <a:t>Survivors Lost</a:t>
            </a:r>
          </a:p>
          <a:p>
            <a:pPr>
              <a:defRPr sz="1000" b="1">
                <a:solidFill>
                  <a:srgbClr val="FFB020"/>
                </a:solidFill>
                <a:latin typeface="Calibri"/>
              </a:defRPr>
            </a:pPr>
            <a:r>
              <a:rPr dirty="0"/>
              <a:t>LOCATION BLINDNESS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Rescue teams lose precious hours because injured hikers cannot transmit their GPS coordinates.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57400"/>
            <a:ext cx="3383280" cy="237744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F2F5"/>
                </a:solidFill>
                <a:latin typeface="Calibri"/>
              </a:defRPr>
            </a:pPr>
            <a:r>
              <a:rPr dirty="0"/>
              <a:t>Expensive Equipment</a:t>
            </a:r>
          </a:p>
          <a:p>
            <a:pPr>
              <a:defRPr sz="1000" b="1">
                <a:solidFill>
                  <a:srgbClr val="FFB020"/>
                </a:solidFill>
                <a:latin typeface="Calibri"/>
              </a:defRPr>
            </a:pPr>
            <a:r>
              <a:rPr dirty="0"/>
              <a:t>COST BARRIER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Satellite trackers ($400+) and tactical radios require costly hardware, extra weight, and monthly fees.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57400"/>
            <a:ext cx="3383280" cy="237744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01752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F2F5"/>
                </a:solidFill>
                <a:latin typeface="Calibri"/>
              </a:defRPr>
            </a:pPr>
            <a:r>
              <a:rPr dirty="0"/>
              <a:t>Preventable Loss of Life</a:t>
            </a:r>
          </a:p>
          <a:p>
            <a:pPr>
              <a:defRPr sz="1000" b="1">
                <a:solidFill>
                  <a:srgbClr val="FFB020"/>
                </a:solidFill>
                <a:latin typeface="Calibri"/>
              </a:defRPr>
            </a:pPr>
            <a:r>
              <a:rPr dirty="0"/>
              <a:t>SAFETY GAP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Casualties occur because ordinary smartphones fail completely once cellular signal drops.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09160"/>
            <a:ext cx="10728655" cy="123444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020"/>
                </a:solidFill>
                <a:latin typeface="Calibri"/>
              </a:defRPr>
            </a:pPr>
            <a:r>
              <a:rPr dirty="0"/>
              <a:t>WHO THIS IS FOR</a:t>
            </a:r>
          </a:p>
          <a:p>
            <a:pPr>
              <a:defRPr sz="1300">
                <a:solidFill>
                  <a:srgbClr val="EEF2F5"/>
                </a:solidFill>
                <a:latin typeface="Calibri"/>
              </a:defRPr>
            </a:pPr>
            <a:r>
              <a:rPr dirty="0"/>
              <a:t>• Wilderness Hikers &amp; Mountain Trekking Groups</a:t>
            </a:r>
            <a:br>
              <a:rPr dirty="0"/>
            </a:br>
            <a:r>
              <a:rPr dirty="0"/>
              <a:t>• Volunteer Search and Rescue (SAR) Teams &amp; Field Disaster Units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t>PROBLEM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EF2F5"/>
                </a:solidFill>
                <a:latin typeface="Calibri"/>
              </a:defRPr>
            </a:pPr>
            <a:r>
              <a:t>What we set out to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296AA"/>
                </a:solidFill>
                <a:latin typeface="Calibri"/>
              </a:defRPr>
            </a:pPr>
            <a:r>
              <a:t>R26-IT-135  ·  TrailLink                                                                                                                                        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201168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020"/>
                </a:solidFill>
                <a:latin typeface="Calibri"/>
              </a:defRPr>
            </a:pPr>
            <a:r>
              <a:rPr sz="1400" dirty="0"/>
              <a:t>RESEARCH PROBLEM</a:t>
            </a:r>
          </a:p>
          <a:p>
            <a:pPr>
              <a:defRPr sz="135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Cell towers fail first in remote terrain. Casualties cannot signal for help, rescuers cannot pinpoint them, and existing satellite devices are cost-prohibitive for ordinary groups.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508760"/>
            <a:ext cx="5212080" cy="201168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30975" y="1691640"/>
            <a:ext cx="48463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020"/>
                </a:solidFill>
                <a:latin typeface="Calibri"/>
              </a:defRPr>
            </a:pPr>
            <a:r>
              <a:rPr sz="1400" dirty="0"/>
              <a:t>RESEARCH OBJECTIVE</a:t>
            </a:r>
          </a:p>
          <a:p>
            <a:pPr>
              <a:defRPr sz="135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Build a zero-hardware hybrid platform for commodity Android phones providing bounded multi-hop mesh messaging, link quality metrics, PTT voice, and offline SOS telemetry.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2468880" cy="201168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4069080"/>
            <a:ext cx="21396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B020"/>
                </a:solidFill>
                <a:latin typeface="Calibri"/>
              </a:defRPr>
            </a:pPr>
            <a:r>
              <a:rPr dirty="0"/>
              <a:t>1</a:t>
            </a:r>
          </a:p>
          <a:p>
            <a:pPr>
              <a:defRPr sz="1400" b="1">
                <a:solidFill>
                  <a:srgbClr val="EEF2F5"/>
                </a:solidFill>
                <a:latin typeface="Calibri"/>
              </a:defRPr>
            </a:pPr>
            <a:r>
              <a:rPr dirty="0"/>
              <a:t>Mesh Intelligence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Link quality scoring (0-100) &amp; spatial Network Compass.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931920"/>
            <a:ext cx="2468880" cy="201168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9312" y="4069080"/>
            <a:ext cx="21396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B020"/>
                </a:solidFill>
                <a:latin typeface="Calibri"/>
              </a:defRPr>
            </a:pPr>
            <a:r>
              <a:rPr dirty="0"/>
              <a:t>2</a:t>
            </a:r>
          </a:p>
          <a:p>
            <a:pPr>
              <a:defRPr sz="1400" b="1">
                <a:solidFill>
                  <a:srgbClr val="EEF2F5"/>
                </a:solidFill>
                <a:latin typeface="Calibri"/>
              </a:defRPr>
            </a:pPr>
            <a:r>
              <a:rPr dirty="0"/>
              <a:t>Communication Core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Store-and-forward queue with bounded relay (TTL≤5).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2468880" cy="201168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4052114"/>
            <a:ext cx="230428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B020"/>
                </a:solidFill>
                <a:latin typeface="Calibri"/>
              </a:defRPr>
            </a:pPr>
            <a:r>
              <a:rPr dirty="0"/>
              <a:t>3</a:t>
            </a:r>
          </a:p>
          <a:p>
            <a:pPr>
              <a:defRPr sz="1400" b="1">
                <a:solidFill>
                  <a:srgbClr val="EEF2F5"/>
                </a:solidFill>
                <a:latin typeface="Calibri"/>
              </a:defRPr>
            </a:pPr>
            <a:r>
              <a:rPr dirty="0"/>
              <a:t>Voice &amp; PTT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AAC-LC voice notes &amp; 7-state floor-arbitrated Live Radio.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3931920"/>
            <a:ext cx="2468880" cy="201168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19311" y="4069080"/>
            <a:ext cx="21396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B020"/>
                </a:solidFill>
                <a:latin typeface="Calibri"/>
              </a:defRPr>
            </a:pPr>
            <a:r>
              <a:rPr dirty="0"/>
              <a:t>4</a:t>
            </a:r>
          </a:p>
          <a:p>
            <a:pPr>
              <a:defRPr sz="1400" b="1">
                <a:solidFill>
                  <a:srgbClr val="EEF2F5"/>
                </a:solidFill>
                <a:latin typeface="Calibri"/>
              </a:defRPr>
            </a:pPr>
            <a:r>
              <a:rPr dirty="0"/>
              <a:t>Location &amp; SOS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Offline map radar, freshness decay, and lock-screen SOS.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t>EXISTING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EF2F5"/>
                </a:solidFill>
                <a:latin typeface="Calibri"/>
              </a:defRPr>
            </a:pPr>
            <a:r>
              <a:t>Existing solutions leave a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296AA"/>
                </a:solidFill>
                <a:latin typeface="Calibri"/>
              </a:defRPr>
            </a:pPr>
            <a:r>
              <a:t>R26-IT-135  ·  TrailLink                                                                                                                                 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EEF2F5"/>
                </a:solidFill>
                <a:latin typeface="Calibri"/>
              </a:defRPr>
            </a:pPr>
            <a:r>
              <a:t>Compared against Satellite Messengers, Hardware Mesh, and Existing P2P Apps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32475"/>
              </p:ext>
            </p:extLst>
          </p:nvPr>
        </p:nvGraphicFramePr>
        <p:xfrm>
          <a:off x="731520" y="196596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3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EF2F5"/>
                          </a:solidFill>
                          <a:latin typeface="Calibri"/>
                        </a:defRPr>
                      </a:pPr>
                      <a:r>
                        <a:rPr sz="1400"/>
                        <a:t>Feature</a:t>
                      </a:r>
                    </a:p>
                  </a:txBody>
                  <a:tcPr>
                    <a:solidFill>
                      <a:srgbClr val="1B27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EF2F5"/>
                          </a:solidFill>
                          <a:latin typeface="Calibri"/>
                        </a:defRPr>
                      </a:pPr>
                      <a:r>
                        <a:rPr sz="1400"/>
                        <a:t>Satellite (inReach)</a:t>
                      </a:r>
                    </a:p>
                  </a:txBody>
                  <a:tcPr>
                    <a:solidFill>
                      <a:srgbClr val="1B27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EF2F5"/>
                          </a:solidFill>
                          <a:latin typeface="Calibri"/>
                        </a:defRPr>
                      </a:pPr>
                      <a:r>
                        <a:rPr sz="1400"/>
                        <a:t>Hardware (Meshtastic)</a:t>
                      </a:r>
                    </a:p>
                  </a:txBody>
                  <a:tcPr>
                    <a:solidFill>
                      <a:srgbClr val="1B27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EF2F5"/>
                          </a:solidFill>
                          <a:latin typeface="Calibri"/>
                        </a:defRPr>
                      </a:pPr>
                      <a:r>
                        <a:rPr sz="1400"/>
                        <a:t>P2P Apps (Briar)</a:t>
                      </a:r>
                    </a:p>
                  </a:txBody>
                  <a:tcPr>
                    <a:solidFill>
                      <a:srgbClr val="1B27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B020"/>
                          </a:solidFill>
                          <a:latin typeface="Calibri"/>
                        </a:defRPr>
                      </a:pPr>
                      <a:r>
                        <a:rPr sz="1400"/>
                        <a:t>TrailLink (Our System)</a:t>
                      </a:r>
                    </a:p>
                  </a:txBody>
                  <a:tcPr>
                    <a:solidFill>
                      <a:srgbClr val="1B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EF2F5"/>
                          </a:solidFill>
                          <a:latin typeface="Calibri"/>
                        </a:defRPr>
                      </a:pPr>
                      <a:r>
                        <a:rPr sz="1400"/>
                        <a:t>Infrastructure-Free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C6D2"/>
                          </a:solidFill>
                          <a:latin typeface="Calibri"/>
                        </a:defRPr>
                      </a:pPr>
                      <a:r>
                        <a:rPr sz="1400"/>
                        <a:t>No (Requires Satellites)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C6D2"/>
                          </a:solidFill>
                          <a:latin typeface="Calibri"/>
                        </a:defRPr>
                      </a:pPr>
                      <a:r>
                        <a:rPr sz="1400"/>
                        <a:t>Yes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C6D2"/>
                          </a:solidFill>
                          <a:latin typeface="Calibri"/>
                        </a:defRPr>
                      </a:pPr>
                      <a:r>
                        <a:rPr sz="1400"/>
                        <a:t>Yes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B020"/>
                          </a:solidFill>
                          <a:latin typeface="Calibri"/>
                        </a:defRPr>
                      </a:pPr>
                      <a:r>
                        <a:rPr sz="1400"/>
                        <a:t>Yes (Commodity Phones)</a:t>
                      </a:r>
                    </a:p>
                  </a:txBody>
                  <a:tcPr>
                    <a:solidFill>
                      <a:srgbClr val="1E2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EF2F5"/>
                          </a:solidFill>
                          <a:latin typeface="Calibri"/>
                        </a:defRPr>
                      </a:pPr>
                      <a:r>
                        <a:rPr sz="1400"/>
                        <a:t>Zero Additional Hardware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C6D2"/>
                          </a:solidFill>
                          <a:latin typeface="Calibri"/>
                        </a:defRPr>
                      </a:pPr>
                      <a:r>
                        <a:rPr sz="1400" dirty="0"/>
                        <a:t>No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C6D2"/>
                          </a:solidFill>
                          <a:latin typeface="Calibri"/>
                        </a:defRPr>
                      </a:pPr>
                      <a:r>
                        <a:rPr sz="1400" dirty="0"/>
                        <a:t>No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C6D2"/>
                          </a:solidFill>
                          <a:latin typeface="Calibri"/>
                        </a:defRPr>
                      </a:pPr>
                      <a:r>
                        <a:rPr sz="1400" dirty="0"/>
                        <a:t>Yes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B020"/>
                          </a:solidFill>
                          <a:latin typeface="Calibri"/>
                        </a:defRPr>
                      </a:pPr>
                      <a:r>
                        <a:rPr sz="1400"/>
                        <a:t>Yes (Phone Only)</a:t>
                      </a:r>
                    </a:p>
                  </a:txBody>
                  <a:tcPr>
                    <a:solidFill>
                      <a:srgbClr val="1E2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EF2F5"/>
                          </a:solidFill>
                          <a:latin typeface="Calibri"/>
                        </a:defRPr>
                      </a:pPr>
                      <a:r>
                        <a:rPr sz="1400"/>
                        <a:t>Link Quality Estimator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C6D2"/>
                          </a:solidFill>
                          <a:latin typeface="Calibri"/>
                        </a:defRPr>
                      </a:pPr>
                      <a:r>
                        <a:rPr sz="1400"/>
                        <a:t>No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C6D2"/>
                          </a:solidFill>
                          <a:latin typeface="Calibri"/>
                        </a:defRPr>
                      </a:pPr>
                      <a:r>
                        <a:rPr sz="1400"/>
                        <a:t>Raw RSSI only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C6D2"/>
                          </a:solidFill>
                          <a:latin typeface="Calibri"/>
                        </a:defRPr>
                      </a:pPr>
                      <a:r>
                        <a:rPr sz="1400"/>
                        <a:t>No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B020"/>
                          </a:solidFill>
                          <a:latin typeface="Calibri"/>
                        </a:defRPr>
                      </a:pPr>
                      <a:r>
                        <a:rPr sz="1400"/>
                        <a:t>Yes (0-100 Score + Compass)</a:t>
                      </a:r>
                    </a:p>
                  </a:txBody>
                  <a:tcPr>
                    <a:solidFill>
                      <a:srgbClr val="1E2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EF2F5"/>
                          </a:solidFill>
                          <a:latin typeface="Calibri"/>
                        </a:defRPr>
                      </a:pPr>
                      <a:r>
                        <a:rPr sz="1400"/>
                        <a:t>Voice &amp; Live Walkie-Talkie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C6D2"/>
                          </a:solidFill>
                          <a:latin typeface="Calibri"/>
                        </a:defRPr>
                      </a:pPr>
                      <a:r>
                        <a:rPr sz="1400"/>
                        <a:t>No (Text only)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C6D2"/>
                          </a:solidFill>
                          <a:latin typeface="Calibri"/>
                        </a:defRPr>
                      </a:pPr>
                      <a:r>
                        <a:rPr sz="1400"/>
                        <a:t>No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C6D2"/>
                          </a:solidFill>
                          <a:latin typeface="Calibri"/>
                        </a:defRPr>
                      </a:pPr>
                      <a:r>
                        <a:rPr sz="1400"/>
                        <a:t>No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B020"/>
                          </a:solidFill>
                          <a:latin typeface="Calibri"/>
                        </a:defRPr>
                      </a:pPr>
                      <a:r>
                        <a:rPr sz="1400"/>
                        <a:t>Yes (Notes + Live Radio)</a:t>
                      </a:r>
                    </a:p>
                  </a:txBody>
                  <a:tcPr>
                    <a:solidFill>
                      <a:srgbClr val="1E2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EF2F5"/>
                          </a:solidFill>
                          <a:latin typeface="Calibri"/>
                        </a:defRPr>
                      </a:pPr>
                      <a:r>
                        <a:rPr sz="1400"/>
                        <a:t>Multi-Hop SOS Relay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C6D2"/>
                          </a:solidFill>
                          <a:latin typeface="Calibri"/>
                        </a:defRPr>
                      </a:pPr>
                      <a:r>
                        <a:rPr sz="1400"/>
                        <a:t>Simplex Beacon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C6D2"/>
                          </a:solidFill>
                          <a:latin typeface="Calibri"/>
                        </a:defRPr>
                      </a:pPr>
                      <a:r>
                        <a:rPr sz="1400"/>
                        <a:t>Broadcast Flooding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C6D2"/>
                          </a:solidFill>
                          <a:latin typeface="Calibri"/>
                        </a:defRPr>
                      </a:pPr>
                      <a:r>
                        <a:rPr sz="1400"/>
                        <a:t>No SOS</a:t>
                      </a:r>
                    </a:p>
                  </a:txBody>
                  <a:tcPr>
                    <a:solidFill>
                      <a:srgbClr val="151D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B020"/>
                          </a:solidFill>
                          <a:latin typeface="Calibri"/>
                        </a:defRPr>
                      </a:pPr>
                      <a:r>
                        <a:rPr sz="1400" dirty="0"/>
                        <a:t>Yes (Bounded TTL≤5)</a:t>
                      </a:r>
                    </a:p>
                  </a:txBody>
                  <a:tcPr>
                    <a:solidFill>
                      <a:srgbClr val="1E2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EF2F5"/>
                </a:solidFill>
                <a:latin typeface="Calibri"/>
              </a:defRPr>
            </a:pPr>
            <a:r>
              <a:t>A four-component hybrid safety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011680" cy="16459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645920"/>
            <a:ext cx="20665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020"/>
                </a:solidFill>
                <a:latin typeface="Calibri"/>
              </a:defRPr>
            </a:pPr>
            <a:r>
              <a:rPr dirty="0"/>
              <a:t>1. Commodity Android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Unmodified Android 8.0+ using BLE &amp; Wi-Fi Direct.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554480"/>
            <a:ext cx="2011680" cy="16459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20" y="1645920"/>
            <a:ext cx="17922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020"/>
                </a:solidFill>
                <a:latin typeface="Calibri"/>
              </a:defRPr>
            </a:pPr>
            <a:r>
              <a:rPr dirty="0"/>
              <a:t>2. Mesh Intelligence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Scoring link health (0-100) &amp; spatial compass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554480"/>
            <a:ext cx="2011680" cy="16459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93792" y="1645920"/>
            <a:ext cx="17922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020"/>
                </a:solidFill>
                <a:latin typeface="Calibri"/>
              </a:defRPr>
            </a:pPr>
            <a:r>
              <a:rPr dirty="0"/>
              <a:t>3. Communication Core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Bounded relay (TTL≤5) &amp; O(1) deduplication.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554480"/>
            <a:ext cx="2011680" cy="16459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70064" y="1645920"/>
            <a:ext cx="195681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020"/>
                </a:solidFill>
                <a:latin typeface="Calibri"/>
              </a:defRPr>
            </a:pPr>
            <a:r>
              <a:rPr dirty="0"/>
              <a:t>4. Voice &amp; Live PTT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AAC voice notes &amp; floor-arbitrated Live Radio.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554480"/>
            <a:ext cx="2011680" cy="16459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46336" y="1645920"/>
            <a:ext cx="20116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020"/>
                </a:solidFill>
                <a:latin typeface="Calibri"/>
              </a:defRPr>
            </a:pPr>
            <a:r>
              <a:rPr dirty="0"/>
              <a:t>5. Offline Maps &amp; SOS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Peer tracking radar &amp; lock-screen SOS dispatch.</a:t>
            </a:r>
          </a:p>
        </p:txBody>
      </p:sp>
      <p:pic>
        <p:nvPicPr>
          <p:cNvPr id="16" name="Picture 15" descr="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349" y="3320829"/>
            <a:ext cx="4869185" cy="3247257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132320" y="3383280"/>
            <a:ext cx="4327855" cy="25603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0" y="3566160"/>
            <a:ext cx="3962095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B020"/>
                </a:solidFill>
                <a:latin typeface="Calibri"/>
              </a:defRPr>
            </a:pPr>
            <a:r>
              <a:rPr dirty="0"/>
              <a:t>CORE PILLARS</a:t>
            </a:r>
          </a:p>
          <a:p>
            <a:pPr>
              <a:defRPr sz="1150">
                <a:solidFill>
                  <a:srgbClr val="EEF2F5"/>
                </a:solidFill>
                <a:latin typeface="Calibri"/>
              </a:defRPr>
            </a:pPr>
            <a:r>
              <a:rPr dirty="0"/>
              <a:t>• Context Isolation: Online Trips and Offline Channels never mix; zero accidental data leaks.</a:t>
            </a:r>
          </a:p>
          <a:p>
            <a:pPr>
              <a:defRPr sz="1150">
                <a:solidFill>
                  <a:srgbClr val="EEF2F5"/>
                </a:solidFill>
                <a:latin typeface="Calibri"/>
              </a:defRPr>
            </a:pPr>
            <a:r>
              <a:rPr dirty="0"/>
              <a:t>• Dual-Layer Transport: Pivots between cloud </a:t>
            </a:r>
            <a:r>
              <a:rPr dirty="0" err="1"/>
              <a:t>WebSockets</a:t>
            </a:r>
            <a:r>
              <a:rPr dirty="0"/>
              <a:t> and Android Nearby P2P mesh.</a:t>
            </a:r>
          </a:p>
          <a:p>
            <a:pPr>
              <a:defRPr sz="1150">
                <a:solidFill>
                  <a:srgbClr val="EEF2F5"/>
                </a:solidFill>
                <a:latin typeface="Calibri"/>
              </a:defRPr>
            </a:pPr>
            <a:r>
              <a:rPr dirty="0"/>
              <a:t>• Zero Hardware Cost: 100% software on existing consumer smartphones.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EF2F5"/>
                </a:solidFill>
                <a:latin typeface="Calibri"/>
              </a:defRPr>
            </a:pPr>
            <a:r>
              <a:t>Design Science Research (DSR)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296AA"/>
                </a:solidFill>
                <a:latin typeface="Calibri"/>
              </a:defRPr>
            </a:pPr>
            <a:r>
              <a:t>R26-IT-135  ·  TrailLink                                                                                                                                         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645920" cy="16459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627632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B020"/>
                </a:solidFill>
                <a:latin typeface="Calibri"/>
              </a:defRPr>
            </a:pPr>
            <a:r>
              <a:rPr dirty="0"/>
              <a:t>1</a:t>
            </a:r>
          </a:p>
          <a:p>
            <a:pPr>
              <a:defRPr sz="1150" b="1">
                <a:solidFill>
                  <a:srgbClr val="EEF2F5"/>
                </a:solidFill>
                <a:latin typeface="Calibri"/>
              </a:defRPr>
            </a:pPr>
            <a:r>
              <a:rPr dirty="0"/>
              <a:t>Define Problem</a:t>
            </a:r>
            <a:endParaRPr lang="en-US" dirty="0"/>
          </a:p>
          <a:p>
            <a:pPr>
              <a:defRPr sz="1150" b="1">
                <a:solidFill>
                  <a:srgbClr val="EEF2F5"/>
                </a:solidFill>
                <a:latin typeface="Calibri"/>
              </a:defRPr>
            </a:pPr>
            <a:endParaRPr dirty="0"/>
          </a:p>
          <a:p>
            <a:r>
              <a:rPr lang="en-US" sz="1400" dirty="0">
                <a:solidFill>
                  <a:schemeClr val="bg1"/>
                </a:solidFill>
              </a:rPr>
              <a:t>Wilderness blackout &amp; context contamination</a:t>
            </a:r>
            <a:br>
              <a:rPr dirty="0"/>
            </a:br>
            <a:endParaRPr sz="1400" dirty="0">
              <a:solidFill>
                <a:schemeClr val="bg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42032" y="1554480"/>
            <a:ext cx="1645920" cy="16459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33472" y="1645920"/>
            <a:ext cx="1463040" cy="1408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B020"/>
                </a:solidFill>
                <a:latin typeface="Calibri"/>
              </a:defRPr>
            </a:pPr>
            <a:r>
              <a:rPr dirty="0"/>
              <a:t>2</a:t>
            </a:r>
          </a:p>
          <a:p>
            <a:pPr>
              <a:defRPr sz="1150" b="1">
                <a:solidFill>
                  <a:srgbClr val="EEF2F5"/>
                </a:solidFill>
                <a:latin typeface="Calibri"/>
              </a:defRPr>
            </a:pPr>
            <a:r>
              <a:rPr dirty="0"/>
              <a:t>Design Core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sz="1400" dirty="0">
                <a:solidFill>
                  <a:schemeClr val="bg1"/>
                </a:solidFill>
              </a:rPr>
              <a:t>Zero-hardware multi-hop bounded routing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554480"/>
            <a:ext cx="1645920" cy="16459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43984" y="1645920"/>
            <a:ext cx="1463040" cy="1469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B020"/>
                </a:solidFill>
                <a:latin typeface="Calibri"/>
              </a:defRPr>
            </a:pPr>
            <a:r>
              <a:rPr dirty="0"/>
              <a:t>3</a:t>
            </a:r>
          </a:p>
          <a:p>
            <a:pPr>
              <a:defRPr sz="1150" b="1">
                <a:solidFill>
                  <a:srgbClr val="EEF2F5"/>
                </a:solidFill>
                <a:latin typeface="Calibri"/>
              </a:defRPr>
            </a:pPr>
            <a:r>
              <a:rPr dirty="0"/>
              <a:t>Build Systems</a:t>
            </a:r>
          </a:p>
          <a:p>
            <a:br>
              <a:rPr dirty="0"/>
            </a:br>
            <a:r>
              <a:rPr sz="1400" dirty="0">
                <a:solidFill>
                  <a:schemeClr val="bg1"/>
                </a:solidFill>
              </a:rPr>
              <a:t>Flutter/Dart app, </a:t>
            </a:r>
            <a:r>
              <a:rPr sz="1400" dirty="0" err="1">
                <a:solidFill>
                  <a:schemeClr val="bg1"/>
                </a:solidFill>
              </a:rPr>
              <a:t>Riverpod</a:t>
            </a:r>
            <a:r>
              <a:rPr sz="1400" dirty="0">
                <a:solidFill>
                  <a:schemeClr val="bg1"/>
                </a:solidFill>
              </a:rPr>
              <a:t> &amp; Node.js 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554480"/>
            <a:ext cx="1645920" cy="16459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54496" y="1645920"/>
            <a:ext cx="1463040" cy="1469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B020"/>
                </a:solidFill>
                <a:latin typeface="Calibri"/>
              </a:defRPr>
            </a:pPr>
            <a:r>
              <a:rPr dirty="0"/>
              <a:t>4</a:t>
            </a:r>
          </a:p>
          <a:p>
            <a:pPr>
              <a:defRPr sz="1150" b="1">
                <a:solidFill>
                  <a:srgbClr val="EEF2F5"/>
                </a:solidFill>
                <a:latin typeface="Calibri"/>
              </a:defRPr>
            </a:pPr>
            <a:r>
              <a:rPr dirty="0"/>
              <a:t>Test Topologies</a:t>
            </a:r>
          </a:p>
          <a:p>
            <a:br>
              <a:rPr dirty="0"/>
            </a:br>
            <a:r>
              <a:rPr sz="1400" dirty="0">
                <a:solidFill>
                  <a:schemeClr val="bg1"/>
                </a:solidFill>
              </a:rPr>
              <a:t>Physical multi-device testbed (5 handsets)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554480"/>
            <a:ext cx="1645920" cy="16459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65008" y="1645920"/>
            <a:ext cx="1463040" cy="1469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B020"/>
                </a:solidFill>
                <a:latin typeface="Calibri"/>
              </a:defRPr>
            </a:pPr>
            <a:r>
              <a:rPr dirty="0"/>
              <a:t>5</a:t>
            </a:r>
          </a:p>
          <a:p>
            <a:pPr>
              <a:defRPr sz="1150" b="1">
                <a:solidFill>
                  <a:srgbClr val="EEF2F5"/>
                </a:solidFill>
                <a:latin typeface="Calibri"/>
              </a:defRPr>
            </a:pPr>
            <a:r>
              <a:rPr dirty="0"/>
              <a:t>Evaluate</a:t>
            </a:r>
          </a:p>
          <a:p>
            <a:br>
              <a:rPr dirty="0"/>
            </a:br>
            <a:r>
              <a:rPr sz="1400" dirty="0">
                <a:solidFill>
                  <a:schemeClr val="bg1"/>
                </a:solidFill>
              </a:rPr>
              <a:t>PDR, latency, deduplication &amp; obstacle range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1554480"/>
            <a:ext cx="1645920" cy="16459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0" y="1645920"/>
            <a:ext cx="1463040" cy="1469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B020"/>
                </a:solidFill>
                <a:latin typeface="Calibri"/>
              </a:defRPr>
            </a:pPr>
            <a:r>
              <a:rPr dirty="0"/>
              <a:t>6</a:t>
            </a:r>
          </a:p>
          <a:p>
            <a:pPr>
              <a:defRPr sz="1150" b="1">
                <a:solidFill>
                  <a:srgbClr val="EEF2F5"/>
                </a:solidFill>
                <a:latin typeface="Calibri"/>
              </a:defRPr>
            </a:pPr>
            <a:r>
              <a:rPr dirty="0"/>
              <a:t>Refine &amp; Harden</a:t>
            </a:r>
          </a:p>
          <a:p>
            <a:br>
              <a:rPr dirty="0"/>
            </a:br>
            <a:r>
              <a:rPr sz="1400" dirty="0">
                <a:solidFill>
                  <a:schemeClr val="bg1"/>
                </a:solidFill>
              </a:rPr>
              <a:t>Floor arbitration &amp; emergency preemption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74720"/>
            <a:ext cx="3383280" cy="25603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301752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F2F5"/>
                </a:solidFill>
                <a:latin typeface="Calibri"/>
              </a:defRPr>
            </a:pPr>
            <a:r>
              <a:rPr dirty="0"/>
              <a:t>Mobile Ad-Hoc Networking</a:t>
            </a:r>
          </a:p>
          <a:p>
            <a:pPr>
              <a:defRPr sz="1000" b="1">
                <a:solidFill>
                  <a:srgbClr val="FFB020"/>
                </a:solidFill>
                <a:latin typeface="Calibri"/>
              </a:defRPr>
            </a:pPr>
            <a:r>
              <a:rPr dirty="0"/>
              <a:t>MANET PROTOCOLS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Android Nearby Connections (P2P_CLUSTER), BLE advertising, and Wi-Fi Direct socket management.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474720"/>
            <a:ext cx="3383280" cy="25603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3657600"/>
            <a:ext cx="301752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F2F5"/>
                </a:solidFill>
                <a:latin typeface="Calibri"/>
              </a:defRPr>
            </a:pPr>
            <a:r>
              <a:rPr dirty="0"/>
              <a:t>Distributed State Machines</a:t>
            </a:r>
          </a:p>
          <a:p>
            <a:pPr>
              <a:defRPr sz="1000" b="1">
                <a:solidFill>
                  <a:srgbClr val="FFB020"/>
                </a:solidFill>
                <a:latin typeface="Calibri"/>
              </a:defRPr>
            </a:pPr>
            <a:r>
              <a:rPr dirty="0"/>
              <a:t>DISTRIBUTED STATE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Decentralized token-passing floor control, SQLite ACID deduplication, and opportunistic cloud sync</a:t>
            </a:r>
            <a:r>
              <a:rPr dirty="0"/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474720"/>
            <a:ext cx="3383280" cy="25603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3657600"/>
            <a:ext cx="301752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F2F5"/>
                </a:solidFill>
                <a:latin typeface="Calibri"/>
              </a:defRPr>
            </a:pPr>
            <a:r>
              <a:rPr dirty="0"/>
              <a:t>Panic-Resilient HCI</a:t>
            </a:r>
          </a:p>
          <a:p>
            <a:pPr>
              <a:defRPr sz="1000" b="1">
                <a:solidFill>
                  <a:srgbClr val="FFB020"/>
                </a:solidFill>
                <a:latin typeface="Calibri"/>
              </a:defRPr>
            </a:pPr>
            <a:r>
              <a:rPr dirty="0"/>
              <a:t>SAFETY UX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Lock-screen quick SOS panic triggers, color-coded location freshness, and spatial Network Compass.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t>IT22148704  ·  THANUJANA D. 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EF2F5"/>
                </a:solidFill>
                <a:latin typeface="Calibri"/>
              </a:defRPr>
            </a:pPr>
            <a:r>
              <a:t>Connectivity, Mesh Intelligence &amp; Compass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296AA"/>
                </a:solidFill>
                <a:latin typeface="Calibri"/>
              </a:defRPr>
            </a:pPr>
            <a:r>
              <a:t>R26-IT-135  ·  TrailLink                                                                                                                                         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32004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dirty="0"/>
              <a:t>WHAT WAS BUILT</a:t>
            </a:r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>
                <a:solidFill>
                  <a:schemeClr val="bg1"/>
                </a:solidFill>
              </a:rPr>
              <a:t>• Composite LQE Pipeline (0-100 Score): Combines RSSI, ACK RTT, and packet success into 5 tiers (Excellent, Good, Fair, Weak, Lost).</a:t>
            </a:r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>
                <a:solidFill>
                  <a:schemeClr val="bg1"/>
                </a:solidFill>
              </a:rPr>
              <a:t>• Split-Half Trend Analyzer: Detects Improving, Degrading, or Stable connection shifts in real time.</a:t>
            </a:r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>
                <a:solidFill>
                  <a:schemeClr val="bg1"/>
                </a:solidFill>
              </a:rPr>
              <a:t>• Network Compass: Privacy-preserving compass guiding users toward the best recorded signal position.</a:t>
            </a:r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>
                <a:solidFill>
                  <a:schemeClr val="bg1"/>
                </a:solidFill>
              </a:rPr>
              <a:t>• Backend Reachability Probe: HTTP probes to distinguish real internet from local Wi-Fi association.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508760"/>
            <a:ext cx="5212080" cy="32004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30975" y="1691640"/>
            <a:ext cx="4846320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dirty="0"/>
              <a:t>DELIVERED &amp; VERIFIED</a:t>
            </a:r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r>
              <a:rPr sz="1400" dirty="0"/>
              <a:t>• 100% deterministic accuracy for LQE quality label classification.</a:t>
            </a:r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r>
              <a:rPr sz="1400" dirty="0"/>
              <a:t>• Compass bearing accuracy within ±0.8° in physical trials.</a:t>
            </a:r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r>
              <a:rPr sz="1400" dirty="0"/>
              <a:t>• Adaptive fallback scoring when chipset masks physical RSSI.</a:t>
            </a:r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r>
              <a:rPr sz="1400" dirty="0"/>
              <a:t>• Hysteresis state machine preventing rapid UI mode flapping.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8655" cy="11887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10362895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020"/>
                </a:solidFill>
                <a:latin typeface="Calibri"/>
              </a:defRPr>
            </a:pPr>
            <a:r>
              <a:rPr dirty="0"/>
              <a:t>NOVELTY</a:t>
            </a:r>
          </a:p>
          <a:p>
            <a:pPr>
              <a:defRPr sz="13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First software-only Link Quality Estimator on Android Nearby Connections operating without root access, paired with directional Network Compass guidance to find cell signal.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t>IT22148704  ·  DEVELOPED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0453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EF2F5"/>
                </a:solidFill>
                <a:latin typeface="Calibri"/>
              </a:defRPr>
            </a:pPr>
            <a:r>
              <a:rPr dirty="0"/>
              <a:t>Connectivity intelligence and spatial compass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296AA"/>
                </a:solidFill>
                <a:latin typeface="Calibri"/>
              </a:defRPr>
            </a:pPr>
            <a:r>
              <a:t>R26-IT-135  ·  TrailLink                                                                                                                                           8</a:t>
            </a:r>
          </a:p>
        </p:txBody>
      </p:sp>
      <p:pic>
        <p:nvPicPr>
          <p:cNvPr id="6" name="Picture 5" descr="4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46" y="1194319"/>
            <a:ext cx="4206240" cy="2944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920965" y="1508760"/>
            <a:ext cx="3383280" cy="246888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03845" y="169164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dirty="0"/>
              <a:t>LQE SCORING MATRIX</a:t>
            </a:r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dirty="0"/>
              <a:t>• Baseline: </a:t>
            </a:r>
            <a:r>
              <a:rPr dirty="0" err="1"/>
              <a:t>S_base</a:t>
            </a:r>
            <a:r>
              <a:rPr dirty="0"/>
              <a:t> = 50 pts</a:t>
            </a:r>
            <a:br>
              <a:rPr dirty="0"/>
            </a:br>
            <a:r>
              <a:rPr dirty="0"/>
              <a:t>• RSSI ≥ -55 dBm: +35 pts</a:t>
            </a:r>
            <a:br>
              <a:rPr dirty="0"/>
            </a:br>
            <a:r>
              <a:rPr dirty="0"/>
              <a:t>• ACK RTT &lt; 300ms: +20 pts</a:t>
            </a:r>
            <a:br>
              <a:rPr dirty="0"/>
            </a:br>
            <a:r>
              <a:rPr dirty="0"/>
              <a:t>• Packet Success ≥ 90%: +20 pts</a:t>
            </a:r>
            <a:br>
              <a:rPr dirty="0"/>
            </a:br>
            <a:r>
              <a:rPr dirty="0"/>
              <a:t>• Churn Penalties: -10 to -35 pts</a:t>
            </a:r>
            <a:br>
              <a:rPr dirty="0"/>
            </a:br>
            <a:r>
              <a:rPr dirty="0"/>
              <a:t>• Clamped Score: 0 to 100 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78565" y="1508760"/>
            <a:ext cx="3413455" cy="246888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61445" y="1691640"/>
            <a:ext cx="30476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t>CONNECTION STATES</a:t>
            </a:r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t>• Online: Confirmed server health</a:t>
            </a:r>
            <a:br/>
            <a:r>
              <a:t>• Reconnecting: Temporary packet drop</a:t>
            </a:r>
            <a:br/>
            <a:r>
              <a:t>• Unstable: Fluctuating latency</a:t>
            </a:r>
            <a:br/>
            <a:r>
              <a:t>• Offline: 3 consecutive probe fails</a:t>
            </a:r>
            <a:br/>
            <a:r>
              <a:t>Prevents UI flapping during movement.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5894" y="4289749"/>
            <a:ext cx="3383280" cy="18288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0486" y="4426909"/>
            <a:ext cx="3054096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dirty="0" err="1"/>
              <a:t>PeerQualityCalculator.dart</a:t>
            </a:r>
            <a:endParaRPr dirty="0"/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Calculates composite 0-100 score across 10-sample observation sliding windows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4573494" y="4289749"/>
            <a:ext cx="3383280" cy="18288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8086" y="4426909"/>
            <a:ext cx="3054096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dirty="0" err="1"/>
              <a:t>NetworkCompassService.dart</a:t>
            </a:r>
            <a:endParaRPr dirty="0"/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Calculates geodesic bearing from GPS coordinates to highest measured signal point.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1094" y="4289749"/>
            <a:ext cx="3383280" cy="18288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95686" y="4426909"/>
            <a:ext cx="3054096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dirty="0" err="1"/>
              <a:t>BackendReachabilityService.dart</a:t>
            </a:r>
            <a:endParaRPr dirty="0"/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Executes background HTTP HEAD requests with strict 3-second timeouts.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t>IT22168290  ·  PABODHANA D. M. D. 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EF2F5"/>
                </a:solidFill>
                <a:latin typeface="Calibri"/>
              </a:defRPr>
            </a:pPr>
            <a:r>
              <a:t>Communication Core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296AA"/>
                </a:solidFill>
                <a:latin typeface="Calibri"/>
              </a:defRPr>
            </a:pPr>
            <a:r>
              <a:t>R26-IT-135  ·  TrailLink                                                                                                                                          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32004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sz="1400" dirty="0"/>
              <a:t>WHAT WAS BUILT</a:t>
            </a:r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• Delay-Tolerant Transport Engine: 6 submodules handling routing, queues, persistence, and opportunistic cloud sync.</a:t>
            </a:r>
            <a:endParaRPr lang="en-US"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endParaRPr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• Bounded Multi-Hop Relay: Controlled forwarding (TTL≤5) extending communication beyond line-of-sight.</a:t>
            </a:r>
            <a:endParaRPr lang="en-US"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endParaRPr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• O(1) Hash Deduplication: SQLite </a:t>
            </a:r>
            <a:r>
              <a:rPr sz="1400" dirty="0" err="1"/>
              <a:t>processed_packets</a:t>
            </a:r>
            <a:r>
              <a:rPr sz="1400" dirty="0"/>
              <a:t> table completely suppressing circular packet storms.</a:t>
            </a:r>
            <a:endParaRPr lang="en-US"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endParaRPr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• 3-Tier Priority Queue: Strict scheduling: Emergency SOS &gt; High (Voice/Loc) &gt; Normal (Text).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508760"/>
            <a:ext cx="5212080" cy="32004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30975" y="1691640"/>
            <a:ext cx="4846320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sz="1400" dirty="0"/>
              <a:t>DELIVERED &amp; VERIFIED</a:t>
            </a:r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r>
              <a:rPr sz="1400" dirty="0"/>
              <a:t>• 99.4% single-hop and 94.2% four-hop Packet Delivery Ratio (PDR).</a:t>
            </a:r>
            <a:endParaRPr lang="en-US" sz="1400" dirty="0"/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endParaRPr sz="1400" dirty="0"/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r>
              <a:rPr sz="1400" dirty="0"/>
              <a:t>• 0.00% duplicate propagation across 2,500+ transmitted packets.</a:t>
            </a:r>
            <a:endParaRPr lang="en-US" sz="1400" dirty="0"/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endParaRPr sz="1400" dirty="0"/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r>
              <a:rPr sz="1400" dirty="0"/>
              <a:t>• Sub-1.42s cloud </a:t>
            </a:r>
            <a:r>
              <a:rPr sz="1400" dirty="0" err="1"/>
              <a:t>synchronisation</a:t>
            </a:r>
            <a:r>
              <a:rPr sz="1400" dirty="0"/>
              <a:t> of 100 queued offline records.</a:t>
            </a:r>
            <a:endParaRPr lang="en-US" sz="1400" dirty="0"/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endParaRPr sz="1400" dirty="0"/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r>
              <a:rPr sz="1400" dirty="0"/>
              <a:t>• Strict context isolation: Online Trips and Offline Channels never mix.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8655" cy="11887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103628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020"/>
                </a:solidFill>
                <a:latin typeface="Calibri"/>
              </a:defRPr>
            </a:pPr>
            <a:r>
              <a:rPr sz="1400" dirty="0"/>
              <a:t>NOVELTY</a:t>
            </a:r>
          </a:p>
          <a:p>
            <a:pPr>
              <a:defRPr sz="13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A deterministic store-and-forward mesh core ensuring total context isolation between online trips and offline channels, providing bounded multi-hop delivery with mathematical duplicate immunity.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t>IT22168290  ·  DEVELOPED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EF2F5"/>
                </a:solidFill>
                <a:latin typeface="Calibri"/>
              </a:defRPr>
            </a:pPr>
            <a:r>
              <a:t>Delay-tolerant messaging and packet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296AA"/>
                </a:solidFill>
                <a:latin typeface="Calibri"/>
              </a:defRPr>
            </a:pPr>
            <a:r>
              <a:t>R26-IT-135  ·  TrailLink                                                                                                                                         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3383280" cy="18288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788920"/>
            <a:ext cx="3054096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dirty="0" err="1"/>
              <a:t>OfflinePacketRouter.dart</a:t>
            </a:r>
            <a:endParaRPr dirty="0"/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Demultiplexes packets by type, validates active channel code, and issues auto-ACKs.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51760"/>
            <a:ext cx="3383280" cy="18288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2788920"/>
            <a:ext cx="3054096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dirty="0" err="1"/>
              <a:t>ModeController.dart</a:t>
            </a:r>
            <a:endParaRPr dirty="0"/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Enforces Auto/Online/Offline state transitions with independent trip ID storage.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651760"/>
            <a:ext cx="3383280" cy="18288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1" y="2788920"/>
            <a:ext cx="3248863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dirty="0" err="1"/>
              <a:t>AppDatabase.dart</a:t>
            </a:r>
            <a:r>
              <a:rPr dirty="0"/>
              <a:t> (</a:t>
            </a:r>
            <a:r>
              <a:rPr dirty="0" err="1"/>
              <a:t>sqflite</a:t>
            </a:r>
            <a:r>
              <a:rPr dirty="0"/>
              <a:t>)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Manages transactional ACID message queues, channels, and </a:t>
            </a:r>
            <a:r>
              <a:rPr dirty="0" err="1">
                <a:solidFill>
                  <a:schemeClr val="bg1"/>
                </a:solidFill>
              </a:rPr>
              <a:t>processed_packets</a:t>
            </a:r>
            <a:r>
              <a:rPr dirty="0">
                <a:solidFill>
                  <a:schemeClr val="bg1"/>
                </a:solidFill>
              </a:rPr>
              <a:t> hashes.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5E181-A2B9-3553-9FE3-00AD22FAF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664BBB-80C9-03DC-531D-EBA58983C3C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83CE3-C6C0-DFCE-E277-5CDE042E19D8}"/>
              </a:ext>
            </a:extLst>
          </p:cNvPr>
          <p:cNvSpPr txBox="1"/>
          <p:nvPr/>
        </p:nvSpPr>
        <p:spPr>
          <a:xfrm>
            <a:off x="73152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t>IT22168290  ·  DEVELOPED 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335E01-C575-353E-137B-2D1EC29E9693}"/>
              </a:ext>
            </a:extLst>
          </p:cNvPr>
          <p:cNvSpPr txBox="1"/>
          <p:nvPr/>
        </p:nvSpPr>
        <p:spPr>
          <a:xfrm>
            <a:off x="731520" y="8412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EF2F5"/>
                </a:solidFill>
                <a:latin typeface="Calibri"/>
              </a:defRPr>
            </a:pPr>
            <a:r>
              <a:t>Delay-tolerant messaging and packet routing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ACE4E7-1E86-1ABA-1906-1DE89E8267FB}"/>
              </a:ext>
            </a:extLst>
          </p:cNvPr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296AA"/>
                </a:solidFill>
                <a:latin typeface="Calibri"/>
              </a:defRPr>
            </a:pPr>
            <a:r>
              <a:t>R26-IT-135  ·  TrailLink                                                                                                                                           10</a:t>
            </a:r>
          </a:p>
        </p:txBody>
      </p:sp>
      <p:pic>
        <p:nvPicPr>
          <p:cNvPr id="6" name="Picture 5" descr="4.3.png">
            <a:extLst>
              <a:ext uri="{FF2B5EF4-FFF2-40B4-BE49-F238E27FC236}">
                <a16:creationId xmlns:a16="http://schemas.microsoft.com/office/drawing/2014/main" id="{A40ABD9B-4DC0-8DBF-3C7D-659462BFD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03282"/>
            <a:ext cx="5212080" cy="3475933"/>
          </a:xfrm>
          <a:prstGeom prst="rect">
            <a:avLst/>
          </a:prstGeom>
        </p:spPr>
      </p:pic>
      <p:pic>
        <p:nvPicPr>
          <p:cNvPr id="7" name="Picture 6" descr="5.1.png">
            <a:extLst>
              <a:ext uri="{FF2B5EF4-FFF2-40B4-BE49-F238E27FC236}">
                <a16:creationId xmlns:a16="http://schemas.microsoft.com/office/drawing/2014/main" id="{04F3F167-C783-165A-C33C-4C7E5F684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101" y="1508760"/>
            <a:ext cx="4445073" cy="466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64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027B6-3F5A-ED1B-BD9A-4AC43758B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15CC1E-E1BA-DFDC-DA2E-0420BFD0C27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ACA740-EE67-C0AA-0BDF-8D863C0F33C8}"/>
              </a:ext>
            </a:extLst>
          </p:cNvPr>
          <p:cNvSpPr txBox="1"/>
          <p:nvPr/>
        </p:nvSpPr>
        <p:spPr>
          <a:xfrm>
            <a:off x="73152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t>IT22168290  ·  DEVELOPED 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4F85E9-D8AF-7E1F-2F61-6160BFB2C1E9}"/>
              </a:ext>
            </a:extLst>
          </p:cNvPr>
          <p:cNvSpPr txBox="1"/>
          <p:nvPr/>
        </p:nvSpPr>
        <p:spPr>
          <a:xfrm>
            <a:off x="731520" y="8412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EF2F5"/>
                </a:solidFill>
                <a:latin typeface="Calibri"/>
              </a:defRPr>
            </a:pPr>
            <a:r>
              <a:t>Delay-tolerant messaging and packet routing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64C06C-45A8-1F00-A24F-5EB1EE0F13A2}"/>
              </a:ext>
            </a:extLst>
          </p:cNvPr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296AA"/>
                </a:solidFill>
                <a:latin typeface="Calibri"/>
              </a:defRPr>
            </a:pPr>
            <a:r>
              <a:t>R26-IT-135  ·  TrailLink                                                                                                                                           10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96D7B41-861C-3C0D-D713-B669A7810029}"/>
              </a:ext>
            </a:extLst>
          </p:cNvPr>
          <p:cNvSpPr/>
          <p:nvPr/>
        </p:nvSpPr>
        <p:spPr>
          <a:xfrm>
            <a:off x="731520" y="2905366"/>
            <a:ext cx="3383280" cy="18288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AFDF80-8FAE-3801-9742-EED15F70988C}"/>
              </a:ext>
            </a:extLst>
          </p:cNvPr>
          <p:cNvSpPr txBox="1"/>
          <p:nvPr/>
        </p:nvSpPr>
        <p:spPr>
          <a:xfrm>
            <a:off x="896112" y="3042526"/>
            <a:ext cx="3054096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dirty="0" err="1"/>
              <a:t>OfflinePacketRouter.dart</a:t>
            </a:r>
            <a:endParaRPr dirty="0"/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Demultiplexes packets by type, validates active channel code, and issues auto-ACKs.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E02E573-5521-5A7E-67BC-6B2958828FAC}"/>
              </a:ext>
            </a:extLst>
          </p:cNvPr>
          <p:cNvSpPr/>
          <p:nvPr/>
        </p:nvSpPr>
        <p:spPr>
          <a:xfrm>
            <a:off x="4389120" y="2905366"/>
            <a:ext cx="3383280" cy="18288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CC5BAC-FFAB-2EB1-CAFD-4C0391B2E244}"/>
              </a:ext>
            </a:extLst>
          </p:cNvPr>
          <p:cNvSpPr txBox="1"/>
          <p:nvPr/>
        </p:nvSpPr>
        <p:spPr>
          <a:xfrm>
            <a:off x="4553712" y="3042526"/>
            <a:ext cx="3054096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dirty="0" err="1"/>
              <a:t>ModeController.dart</a:t>
            </a:r>
            <a:endParaRPr dirty="0"/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Enforces Auto/Online/Offline state transitions with independent trip ID storage.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A9453FA-48AB-3560-E882-DB0377C85567}"/>
              </a:ext>
            </a:extLst>
          </p:cNvPr>
          <p:cNvSpPr/>
          <p:nvPr/>
        </p:nvSpPr>
        <p:spPr>
          <a:xfrm>
            <a:off x="8046720" y="2905366"/>
            <a:ext cx="3383280" cy="18288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B0A3B1-A877-F8E8-2FA1-F7463B665579}"/>
              </a:ext>
            </a:extLst>
          </p:cNvPr>
          <p:cNvSpPr txBox="1"/>
          <p:nvPr/>
        </p:nvSpPr>
        <p:spPr>
          <a:xfrm>
            <a:off x="8211312" y="3042526"/>
            <a:ext cx="3218688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dirty="0" err="1"/>
              <a:t>AppDatabase.dart</a:t>
            </a:r>
            <a:r>
              <a:rPr dirty="0"/>
              <a:t> (</a:t>
            </a:r>
            <a:r>
              <a:rPr dirty="0" err="1"/>
              <a:t>sqflite</a:t>
            </a:r>
            <a:r>
              <a:rPr dirty="0"/>
              <a:t>)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Manages transactional ACID message queues, channels, and </a:t>
            </a:r>
            <a:r>
              <a:rPr dirty="0" err="1">
                <a:solidFill>
                  <a:schemeClr val="bg1"/>
                </a:solidFill>
              </a:rPr>
              <a:t>processed_packets</a:t>
            </a:r>
            <a:r>
              <a:rPr dirty="0">
                <a:solidFill>
                  <a:schemeClr val="bg1"/>
                </a:solidFill>
              </a:rPr>
              <a:t> hashes.</a:t>
            </a:r>
          </a:p>
        </p:txBody>
      </p:sp>
    </p:spTree>
    <p:extLst>
      <p:ext uri="{BB962C8B-B14F-4D97-AF65-F5344CB8AC3E}">
        <p14:creationId xmlns:p14="http://schemas.microsoft.com/office/powerpoint/2010/main" val="1899801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t>IT22544490  ·  DULSARA H. G. 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EF2F5"/>
                </a:solidFill>
                <a:latin typeface="Calibri"/>
              </a:defRPr>
            </a:pPr>
            <a:r>
              <a:t>Location, Mapping &amp; Emergency 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296AA"/>
                </a:solidFill>
                <a:latin typeface="Calibri"/>
              </a:defRPr>
            </a:pPr>
            <a:r>
              <a:t>R26-IT-135  ·  TrailLink                                                                                                                                         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32004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sz="1400" dirty="0"/>
              <a:t>WHAT WAS BUILT</a:t>
            </a:r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• High-Accuracy GPS Telemetry: Fused Location Provider with 12s acquisition guards and SQLite storage.</a:t>
            </a:r>
            <a:endParaRPr lang="en-US"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endParaRPr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• Time-Decay Freshness Classifier: Color-codes peer markers: Fresh (≤5m), Old (5-30m), and Stale (&gt;30m).</a:t>
            </a:r>
            <a:endParaRPr lang="en-US"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endParaRPr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• Offline </a:t>
            </a:r>
            <a:r>
              <a:rPr sz="1400" dirty="0" err="1"/>
              <a:t>MBTiles</a:t>
            </a:r>
            <a:r>
              <a:rPr sz="1400" dirty="0"/>
              <a:t> Vector Mapping: Renders full topographical maps without internet using </a:t>
            </a:r>
            <a:r>
              <a:rPr sz="1400" dirty="0" err="1"/>
              <a:t>flutter_map</a:t>
            </a:r>
            <a:r>
              <a:rPr sz="1400" dirty="0"/>
              <a:t>.</a:t>
            </a:r>
            <a:endParaRPr lang="en-US"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endParaRPr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• Emergency SOS Relay Protocol: High-priority distress packet broadcast with TTL=8 and lock-screen trigger.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508760"/>
            <a:ext cx="5212080" cy="32004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30975" y="1691640"/>
            <a:ext cx="48463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sz="1400" dirty="0"/>
              <a:t>DELIVERED &amp; VERIFIED</a:t>
            </a:r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r>
              <a:rPr sz="1400" dirty="0"/>
              <a:t>• 99.5% line-of-sight SOS packet delivery ratio at 20 meters.</a:t>
            </a:r>
            <a:endParaRPr lang="en-US" sz="1400" dirty="0"/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endParaRPr sz="1400" dirty="0"/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r>
              <a:rPr sz="1400" dirty="0"/>
              <a:t>• SOS dispatch latency consistently under 850 </a:t>
            </a:r>
            <a:r>
              <a:rPr sz="1400" dirty="0" err="1"/>
              <a:t>ms</a:t>
            </a:r>
            <a:r>
              <a:rPr sz="1400" dirty="0"/>
              <a:t> through multi-wall concrete obstacles.</a:t>
            </a:r>
            <a:endParaRPr lang="en-US" sz="1400" dirty="0"/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endParaRPr sz="1400" dirty="0"/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r>
              <a:rPr sz="1400" dirty="0"/>
              <a:t>• Instant emergency trigger without unlocking device PIN via </a:t>
            </a:r>
            <a:r>
              <a:rPr sz="1400" dirty="0" err="1"/>
              <a:t>LockedQuickSosScreen</a:t>
            </a:r>
            <a:r>
              <a:rPr sz="1400" dirty="0"/>
              <a:t>.</a:t>
            </a:r>
            <a:endParaRPr lang="en-US" sz="1400" dirty="0"/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endParaRPr sz="1400" dirty="0"/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r>
              <a:rPr sz="1400" dirty="0"/>
              <a:t>• Idempotent cloud state reconciliation once internet recovers.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8655" cy="11887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103628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020"/>
                </a:solidFill>
                <a:latin typeface="Calibri"/>
              </a:defRPr>
            </a:pPr>
            <a:r>
              <a:rPr sz="1400" dirty="0"/>
              <a:t>NOVELTY</a:t>
            </a:r>
            <a:endParaRPr lang="en-US" sz="1400" dirty="0"/>
          </a:p>
          <a:p>
            <a:pPr>
              <a:defRPr sz="1100" b="1">
                <a:solidFill>
                  <a:srgbClr val="FFB020"/>
                </a:solidFill>
                <a:latin typeface="Calibri"/>
              </a:defRPr>
            </a:pPr>
            <a:endParaRPr sz="1400" dirty="0"/>
          </a:p>
          <a:p>
            <a:pPr>
              <a:defRPr sz="13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A lock-screen </a:t>
            </a:r>
            <a:r>
              <a:rPr sz="1400" dirty="0" err="1"/>
              <a:t>bypassable</a:t>
            </a:r>
            <a:r>
              <a:rPr sz="1400" dirty="0"/>
              <a:t> emergency dispatch mechanism integrated with bounded multi-hop mesh relay and time-decay location freshness, ensuring instant panic signaling during physical trauma.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2158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t>IT22544490  ·  DEVELOPED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EF2F5"/>
                </a:solidFill>
                <a:latin typeface="Calibri"/>
              </a:defRPr>
            </a:pPr>
            <a:r>
              <a:t>Offline radar mapping and emergency 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296AA"/>
                </a:solidFill>
                <a:latin typeface="Calibri"/>
              </a:defRPr>
            </a:pPr>
            <a:r>
              <a:t>R26-IT-135  ·  TrailLink                                                                                                                                           12</a:t>
            </a:r>
          </a:p>
        </p:txBody>
      </p:sp>
      <p:pic>
        <p:nvPicPr>
          <p:cNvPr id="6" name="Picture 5" descr="4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705" y="1274976"/>
            <a:ext cx="4842283" cy="286847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48095" y="1508760"/>
            <a:ext cx="5212080" cy="246888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30975" y="1691640"/>
            <a:ext cx="484632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sz="1400" dirty="0"/>
              <a:t>TIME-DECAY FRESHNESS TIERS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  <a:defRPr sz="1200">
                <a:solidFill>
                  <a:srgbClr val="EEF2F5"/>
                </a:solidFill>
                <a:latin typeface="Calibri"/>
              </a:defRPr>
            </a:pPr>
            <a:r>
              <a:rPr lang="en-US" sz="1400" dirty="0"/>
              <a:t>Fresh (≤ 5 min): Solid Green marker (Active presence).</a:t>
            </a:r>
          </a:p>
          <a:p>
            <a:pPr marL="285750" indent="-285750">
              <a:buFont typeface="Arial" panose="020B0604020202020204" pitchFamily="34" charset="0"/>
              <a:buChar char="•"/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Old (5 - 30 min): Amber semi-transparent marker (Fading)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Stale (&gt; 30 min): Faded Gray marker + 'Old Data' warning banner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Prevents search teams from chasing outdated historical coordinates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3383280" cy="18288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4343400"/>
            <a:ext cx="3054096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dirty="0" err="1"/>
              <a:t>LocationService.dart</a:t>
            </a:r>
            <a:endParaRPr dirty="0"/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Acquires high-accuracy GPS coordinates with 12s timeout guards.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206240"/>
            <a:ext cx="3383280" cy="18288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4343400"/>
            <a:ext cx="3054096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dirty="0" err="1"/>
              <a:t>EmergencyRepository.dart</a:t>
            </a:r>
            <a:endParaRPr dirty="0"/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Generates priority SOS packet envelopes with TTL=8 and auto-retries.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206240"/>
            <a:ext cx="3383280" cy="18288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2" y="4343400"/>
            <a:ext cx="3054096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dirty="0" err="1"/>
              <a:t>LockedQuickSosScreen.dart</a:t>
            </a:r>
            <a:endParaRPr dirty="0"/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Allows hikers to trigger emergency broadcasts without entering phone PIN.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t>IT22894038  ·  VITHARANA G. 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EF2F5"/>
                </a:solidFill>
                <a:latin typeface="Calibri"/>
              </a:defRPr>
            </a:pPr>
            <a:r>
              <a:t>Voice and Push-to-Talk (PTT)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296AA"/>
                </a:solidFill>
                <a:latin typeface="Calibri"/>
              </a:defRPr>
            </a:pPr>
            <a:r>
              <a:t>R26-IT-135  ·  TrailLink                                                                                                                                          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32004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sz="1400" dirty="0"/>
              <a:t>WHAT WAS BUILT</a:t>
            </a:r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• Asynchronous Voice Messaging: AAC-LC audio compression (.m4a) with validation (discards clips &lt;650ms or &lt;128 bytes).</a:t>
            </a:r>
            <a:endParaRPr lang="en-US"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endParaRPr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• Live Radio Walkie-Talkie: Near-live PCM audio streaming (16 kHz, 16-bit mono, 200 </a:t>
            </a:r>
            <a:r>
              <a:rPr sz="1400" dirty="0" err="1"/>
              <a:t>ms</a:t>
            </a:r>
            <a:r>
              <a:rPr sz="1400" dirty="0"/>
              <a:t> chunks).</a:t>
            </a:r>
            <a:endParaRPr lang="en-US"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endParaRPr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• 7-State Floor Arbitration FSM: Decentralized lock controller (Idle, Requesting, Owned, Streaming, Releasing, Locked Out, Error).</a:t>
            </a:r>
            <a:endParaRPr lang="en-US"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endParaRPr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• Emergency Interruption Preemption: Forcibly terminates active talk floors within 64 </a:t>
            </a:r>
            <a:r>
              <a:rPr sz="1400" dirty="0" err="1"/>
              <a:t>ms</a:t>
            </a:r>
            <a:r>
              <a:rPr sz="1400" dirty="0"/>
              <a:t> when an SOS arrives.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508760"/>
            <a:ext cx="5212080" cy="32004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30975" y="1691640"/>
            <a:ext cx="48463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sz="1400" dirty="0"/>
              <a:t>DELIVERED &amp; VERIFIED</a:t>
            </a:r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r>
              <a:rPr sz="1400" dirty="0"/>
              <a:t>• 100% floor grant correctness and simultaneous collision rejection.</a:t>
            </a:r>
            <a:endParaRPr lang="en-US" sz="1400" dirty="0"/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endParaRPr sz="1400" dirty="0"/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r>
              <a:rPr sz="1400" dirty="0"/>
              <a:t>• Near-live streaming latency of 280-420 </a:t>
            </a:r>
            <a:r>
              <a:rPr sz="1400" dirty="0" err="1"/>
              <a:t>ms</a:t>
            </a:r>
            <a:r>
              <a:rPr sz="1400" dirty="0"/>
              <a:t> under Good/Excellent link tiers.</a:t>
            </a:r>
            <a:endParaRPr lang="en-US" sz="1400" dirty="0"/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endParaRPr sz="1400" dirty="0"/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r>
              <a:rPr sz="1400" dirty="0"/>
              <a:t>• Voice note delivery verified across direct peers up to 80 meters.</a:t>
            </a:r>
            <a:endParaRPr lang="en-US" sz="1400" dirty="0"/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endParaRPr sz="1400" dirty="0"/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r>
              <a:rPr sz="1400" dirty="0"/>
              <a:t>• Connection-quality gating: Automatically restricts Live Radio if ACK RTT &gt; 300 </a:t>
            </a:r>
            <a:r>
              <a:rPr sz="1400" dirty="0" err="1"/>
              <a:t>ms.</a:t>
            </a:r>
            <a:endParaRPr sz="1400" dirty="0"/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8655" cy="11887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103628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020"/>
                </a:solidFill>
                <a:latin typeface="Calibri"/>
              </a:defRPr>
            </a:pPr>
            <a:r>
              <a:rPr sz="1400" dirty="0"/>
              <a:t>NOVELTY</a:t>
            </a:r>
          </a:p>
          <a:p>
            <a:pPr>
              <a:defRPr sz="13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A decentralized, serverless talk-floor arbitration protocol combined with live PCM streaming on commodity Wi-Fi Direct, featuring life-critical emergency preemption for SOS signals.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t>IT22894038  ·  DEVELOPED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EF2F5"/>
                </a:solidFill>
                <a:latin typeface="Calibri"/>
              </a:defRPr>
            </a:pPr>
            <a:r>
              <a:t>Voice note pipelines and floor arbitration FSM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296AA"/>
                </a:solidFill>
                <a:latin typeface="Calibri"/>
              </a:defRPr>
            </a:pPr>
            <a:r>
              <a:t>R26-IT-135  ·  TrailLink                                                                                                                                           14</a:t>
            </a:r>
          </a:p>
        </p:txBody>
      </p:sp>
      <p:pic>
        <p:nvPicPr>
          <p:cNvPr id="6" name="Picture 5" descr="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3" y="1325880"/>
            <a:ext cx="5047794" cy="27660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48095" y="1508760"/>
            <a:ext cx="5212080" cy="246888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30975" y="1691640"/>
            <a:ext cx="484632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sz="1400" dirty="0"/>
              <a:t>VOICE SUBSYSTEM SPECS</a:t>
            </a:r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• Voice Notes: 32 kbps AAC-LC mono (.m4a); ~24.8 KB for 6s clip</a:t>
            </a:r>
            <a:br>
              <a:rPr sz="1400" dirty="0"/>
            </a:br>
            <a:r>
              <a:rPr sz="1400" dirty="0"/>
              <a:t>• Live Radio: 16 kHz 16-bit mono PCM; 32 KB/s uncompressed stream</a:t>
            </a:r>
            <a:br>
              <a:rPr sz="1400" dirty="0"/>
            </a:br>
            <a:r>
              <a:rPr sz="1400" dirty="0"/>
              <a:t>• Floor Timeout: 15-second automatic floor release safety guard</a:t>
            </a:r>
            <a:br>
              <a:rPr sz="1400" dirty="0"/>
            </a:br>
            <a:r>
              <a:rPr sz="1400" dirty="0"/>
              <a:t>• Collision Handling: Sequence numbers &amp; sender ID tie-breaker</a:t>
            </a:r>
            <a:br>
              <a:rPr sz="1400" dirty="0"/>
            </a:br>
            <a:r>
              <a:rPr sz="1400" dirty="0"/>
              <a:t>• Preemption: &lt; 64 </a:t>
            </a:r>
            <a:r>
              <a:rPr sz="1400" dirty="0" err="1"/>
              <a:t>ms</a:t>
            </a:r>
            <a:r>
              <a:rPr sz="1400" dirty="0"/>
              <a:t> floor revocation upon incoming SOS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3383280" cy="18288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4343400"/>
            <a:ext cx="3054096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dirty="0" err="1"/>
              <a:t>PttFloorController.dart</a:t>
            </a:r>
            <a:endParaRPr dirty="0"/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Manages the 7-state arbitration FSM and processes floor grant/release packets.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206240"/>
            <a:ext cx="3383280" cy="18288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4343400"/>
            <a:ext cx="3054096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dirty="0" err="1"/>
              <a:t>PttAudioService.dart</a:t>
            </a:r>
            <a:endParaRPr dirty="0"/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Handles microphone recording to AAC-LC (.m4a) and local playback.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206240"/>
            <a:ext cx="3383280" cy="18288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2" y="4343400"/>
            <a:ext cx="3054096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dirty="0" err="1"/>
              <a:t>LiveRadioAudioService.dart</a:t>
            </a:r>
            <a:endParaRPr dirty="0"/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Captures PCM audio chunks and feeds stream player buffers during Live Radio.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t>TESTING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EF2F5"/>
                </a:solidFill>
                <a:latin typeface="Calibri"/>
              </a:defRPr>
            </a:pPr>
            <a:r>
              <a:t>Results against our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296AA"/>
                </a:solidFill>
                <a:latin typeface="Calibri"/>
              </a:defRPr>
            </a:pPr>
            <a:r>
              <a:t>R26-IT-135  ·  TrailLink                                                                                                                                         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32004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01752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020"/>
                </a:solidFill>
                <a:latin typeface="Calibri"/>
              </a:defRPr>
            </a:pPr>
            <a:r>
              <a:rPr dirty="0"/>
              <a:t>BOUNDED MESH RELAY</a:t>
            </a:r>
          </a:p>
          <a:p>
            <a:pPr>
              <a:defRPr sz="1600" b="1">
                <a:solidFill>
                  <a:srgbClr val="EEF2F5"/>
                </a:solidFill>
                <a:latin typeface="Calibri"/>
              </a:defRPr>
            </a:pPr>
            <a:r>
              <a:rPr sz="1400" dirty="0">
                <a:solidFill>
                  <a:schemeClr val="bg1"/>
                </a:solidFill>
              </a:rPr>
              <a:t>Coverage &amp; Reliability</a:t>
            </a:r>
          </a:p>
          <a:p>
            <a:pPr>
              <a:defRPr sz="1100">
                <a:solidFill>
                  <a:srgbClr val="B8C6D2"/>
                </a:solidFill>
                <a:latin typeface="Calibri"/>
              </a:defRPr>
            </a:pPr>
            <a:r>
              <a:rPr sz="1100" dirty="0">
                <a:solidFill>
                  <a:schemeClr val="bg1"/>
                </a:solidFill>
              </a:rPr>
              <a:t>4-Hop PDR in mixed obstacle terrain</a:t>
            </a:r>
          </a:p>
          <a:p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94.2 %</a:t>
            </a:r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r>
              <a:rPr sz="1400" dirty="0">
                <a:solidFill>
                  <a:schemeClr val="bg1"/>
                </a:solidFill>
              </a:rPr>
              <a:t>Packet Delivery Ratio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83280" cy="32004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301752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020"/>
                </a:solidFill>
                <a:latin typeface="Calibri"/>
              </a:defRPr>
            </a:pPr>
            <a:r>
              <a:rPr dirty="0"/>
              <a:t>EMERGENCY SOS RELAY</a:t>
            </a:r>
          </a:p>
          <a:p>
            <a:pPr>
              <a:defRPr sz="1600" b="1">
                <a:solidFill>
                  <a:srgbClr val="EEF2F5"/>
                </a:solidFill>
                <a:latin typeface="Calibri"/>
              </a:defRPr>
            </a:pPr>
            <a:r>
              <a:rPr dirty="0"/>
              <a:t>Speed &amp; Obstacle Penetration</a:t>
            </a:r>
          </a:p>
          <a:p>
            <a:pPr>
              <a:defRPr sz="1100">
                <a:solidFill>
                  <a:srgbClr val="B8C6D2"/>
                </a:solidFill>
                <a:latin typeface="Calibri"/>
              </a:defRPr>
            </a:pPr>
            <a:r>
              <a:rPr dirty="0"/>
              <a:t>Dispatch latency through 2-3 concrete walls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801 </a:t>
            </a:r>
            <a:r>
              <a:rPr dirty="0" err="1">
                <a:solidFill>
                  <a:schemeClr val="bg1"/>
                </a:solidFill>
              </a:rPr>
              <a:t>ms</a:t>
            </a:r>
            <a:endParaRPr dirty="0">
              <a:solidFill>
                <a:schemeClr val="bg1"/>
              </a:solidFill>
            </a:endParaRPr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r>
              <a:rPr dirty="0"/>
              <a:t>Mean Dispatch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08760"/>
            <a:ext cx="3383280" cy="320040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691640"/>
            <a:ext cx="301752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B020"/>
                </a:solidFill>
                <a:latin typeface="Calibri"/>
              </a:defRPr>
            </a:pPr>
            <a:r>
              <a:rPr dirty="0"/>
              <a:t>DUPLICATE SUPPRESSION</a:t>
            </a:r>
          </a:p>
          <a:p>
            <a:pPr>
              <a:defRPr sz="1600" b="1">
                <a:solidFill>
                  <a:srgbClr val="EEF2F5"/>
                </a:solidFill>
                <a:latin typeface="Calibri"/>
              </a:defRPr>
            </a:pPr>
            <a:r>
              <a:rPr dirty="0"/>
              <a:t>Storm Elimination</a:t>
            </a:r>
          </a:p>
          <a:p>
            <a:pPr>
              <a:defRPr sz="1100">
                <a:solidFill>
                  <a:srgbClr val="B8C6D2"/>
                </a:solidFill>
                <a:latin typeface="Calibri"/>
              </a:defRPr>
            </a:pPr>
            <a:r>
              <a:rPr dirty="0"/>
              <a:t>Duplicate packets over 2,500 tests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0.00 %</a:t>
            </a:r>
          </a:p>
          <a:p>
            <a:pPr>
              <a:defRPr sz="1200">
                <a:solidFill>
                  <a:srgbClr val="B8C6D2"/>
                </a:solidFill>
                <a:latin typeface="Calibri"/>
              </a:defRPr>
            </a:pPr>
            <a:r>
              <a:rPr dirty="0"/>
              <a:t>Duplicate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92040"/>
            <a:ext cx="10728655" cy="11887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020"/>
                </a:solidFill>
                <a:latin typeface="Calibri"/>
              </a:defRPr>
            </a:pPr>
            <a:r>
              <a:t>MULTI-HOP BENCHMARKS</a:t>
            </a:r>
          </a:p>
          <a:p>
            <a:pPr>
              <a:defRPr sz="1250">
                <a:solidFill>
                  <a:srgbClr val="EEF2F5"/>
                </a:solidFill>
                <a:latin typeface="Calibri"/>
              </a:defRPr>
            </a:pPr>
            <a:r>
              <a:t>• 1-Hop Direct: 99.4% PDR | Mean RTT: 82 ms         • 2-Hop Relay: 97.8% PDR | Mean RTT: 164 ms</a:t>
            </a:r>
            <a:br/>
            <a:r>
              <a:t>• 3-Hop Relay: 96.1% PDR | Mean RTT: 251 ms         • 4-Hop Relay: 94.2% PDR | Mean RTT: 386 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t>COMMERCIALIZATION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EF2F5"/>
                </a:solidFill>
                <a:latin typeface="Calibri"/>
              </a:defRPr>
            </a:pPr>
            <a:r>
              <a:t>Pricing and sustainability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296AA"/>
                </a:solidFill>
                <a:latin typeface="Calibri"/>
              </a:defRPr>
            </a:pPr>
            <a:r>
              <a:t>R26-IT-135  ·  TrailLink                                                                                                                                          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292608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sz="1400" dirty="0"/>
              <a:t>FREEMIUM TIERS</a:t>
            </a:r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• Free ($0): Basic offline P2P text, peer list, basic SOS.</a:t>
            </a:r>
            <a:endParaRPr lang="en-US"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endParaRPr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• Premium ($2.99/</a:t>
            </a:r>
            <a:r>
              <a:rPr sz="1400" dirty="0" err="1"/>
              <a:t>mo</a:t>
            </a:r>
            <a:r>
              <a:rPr sz="1400" dirty="0"/>
              <a:t>): LQE dashboard, Network Compass, voice notes, offline maps.</a:t>
            </a:r>
            <a:endParaRPr lang="en-US"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endParaRPr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• Team ($9.99/</a:t>
            </a:r>
            <a:r>
              <a:rPr sz="1400" dirty="0" err="1"/>
              <a:t>mo</a:t>
            </a:r>
            <a:r>
              <a:rPr sz="1400" dirty="0"/>
              <a:t>): Up to 8 members: Shared Online Trips, Live Radio, trip history.</a:t>
            </a:r>
            <a:endParaRPr lang="en-US"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endParaRPr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• Enterprise ($199/yr): SAR agencies: MDM deployment, web dashboard, priority cloud.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508760"/>
            <a:ext cx="5212080" cy="292608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30975" y="1691640"/>
            <a:ext cx="484632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sz="1400" dirty="0"/>
              <a:t>USER COST COMPARISON</a:t>
            </a:r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• Garmin </a:t>
            </a:r>
            <a:r>
              <a:rPr sz="1400" dirty="0" err="1"/>
              <a:t>inReach</a:t>
            </a:r>
            <a:r>
              <a:rPr sz="1400" dirty="0"/>
              <a:t> Mini 2: $400 upfront hardware + $15-$65 monthly fee.</a:t>
            </a:r>
            <a:endParaRPr lang="en-US"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endParaRPr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• SPOT Gen4 Messenger: $150 upfront hardware + $12 monthly fee.</a:t>
            </a:r>
            <a:endParaRPr lang="en-US"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endParaRPr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• Tactical LoRa Devices: $35-$80 module + separate power bank.</a:t>
            </a:r>
            <a:endParaRPr lang="en-US"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endParaRPr sz="1400" dirty="0"/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• </a:t>
            </a:r>
            <a:r>
              <a:rPr sz="1400" dirty="0" err="1"/>
              <a:t>TrailLink</a:t>
            </a:r>
            <a:r>
              <a:rPr sz="1400" dirty="0"/>
              <a:t> Solution: $0 upfront hardware; runs on user's existing phone!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728655" cy="146304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103628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020"/>
                </a:solidFill>
                <a:latin typeface="Calibri"/>
              </a:defRPr>
            </a:pPr>
            <a:r>
              <a:rPr sz="1400" dirty="0"/>
              <a:t>TARGET MARKETS &amp; SUSTAINABILITY (SDG 3, 9 &amp; 11)</a:t>
            </a:r>
          </a:p>
          <a:p>
            <a:pPr>
              <a:defRPr sz="1200">
                <a:solidFill>
                  <a:srgbClr val="EEF2F5"/>
                </a:solidFill>
                <a:latin typeface="Calibri"/>
              </a:defRPr>
            </a:pPr>
            <a:r>
              <a:rPr sz="1400" dirty="0"/>
              <a:t>• Target Segments: 50-100 million recreational hikers, mountain rescue teams, disaster relief NGOs.</a:t>
            </a:r>
            <a:br>
              <a:rPr sz="1400" dirty="0"/>
            </a:br>
            <a:r>
              <a:rPr sz="1400" dirty="0"/>
              <a:t>• Delivery: Google Play Store &amp; direct enterprise APK distribution.</a:t>
            </a:r>
            <a:br>
              <a:rPr sz="1400" dirty="0"/>
            </a:br>
            <a:r>
              <a:rPr sz="1400" dirty="0"/>
              <a:t>• Sustainable Development Goals: Good Health &amp; Well-Being (SDG 3), Resilient Infrastructure (SDG 9).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EF2F5"/>
                </a:solidFill>
                <a:latin typeface="Calibri"/>
              </a:defRPr>
            </a:pPr>
            <a:r>
              <a:t>Infrastructure-free safety on commodity smartphones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296AA"/>
                </a:solidFill>
                <a:latin typeface="Calibri"/>
              </a:defRPr>
            </a:pPr>
            <a:r>
              <a:t>R26-IT-135  ·  TrailLink                                                                                                                                          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30175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EF2F5"/>
                </a:solidFill>
                <a:latin typeface="Calibri"/>
              </a:defRPr>
            </a:pPr>
            <a:r>
              <a:rPr dirty="0"/>
              <a:t>BUILT &amp; INTEGRATED</a:t>
            </a:r>
          </a:p>
          <a:p>
            <a:pPr>
              <a:defRPr sz="1000" b="1">
                <a:solidFill>
                  <a:srgbClr val="FFB020"/>
                </a:solidFill>
                <a:latin typeface="Calibri"/>
              </a:defRPr>
            </a:pPr>
            <a:r>
              <a:rPr dirty="0"/>
              <a:t>WORKING SYSTEM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All 4 components fully functional: Connectivity Intelligence, Communication Core, Voice &amp; PTT, and Location SOS.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0175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EF2F5"/>
                </a:solidFill>
                <a:latin typeface="Calibri"/>
              </a:defRPr>
            </a:pPr>
            <a:r>
              <a:rPr dirty="0"/>
              <a:t>SCIENTIFICALLY NOVEL</a:t>
            </a:r>
          </a:p>
          <a:p>
            <a:pPr>
              <a:defRPr sz="1000" b="1">
                <a:solidFill>
                  <a:srgbClr val="FFB020"/>
                </a:solidFill>
                <a:latin typeface="Calibri"/>
              </a:defRPr>
            </a:pPr>
            <a:r>
              <a:rPr dirty="0"/>
              <a:t>CORE NOVELTY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Bounded multi-hop relay (TTL≤5) with O(1) deduplication, 0-100 LQE scoring, Network Compass, and 7-state floor arbitration.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30175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EF2F5"/>
                </a:solidFill>
                <a:latin typeface="Calibri"/>
              </a:defRPr>
            </a:pPr>
            <a:r>
              <a:rPr dirty="0"/>
              <a:t>FUTURE EXPANSION</a:t>
            </a:r>
          </a:p>
          <a:p>
            <a:pPr>
              <a:defRPr sz="1000" b="1">
                <a:solidFill>
                  <a:srgbClr val="FFB020"/>
                </a:solidFill>
                <a:latin typeface="Calibri"/>
              </a:defRPr>
            </a:pPr>
            <a:r>
              <a:rPr dirty="0"/>
              <a:t>NEXT STEPS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Integration with hybrid LoRa modules (10km+ range), native file audio transfer, and hardware button SOS triggers</a:t>
            </a:r>
            <a:r>
              <a:rPr lang="en-US" dirty="0">
                <a:solidFill>
                  <a:schemeClr val="bg1"/>
                </a:solidFill>
              </a:rPr>
              <a:t>.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92040"/>
            <a:ext cx="10728655" cy="11887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628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020"/>
                </a:solidFill>
                <a:latin typeface="Calibri"/>
              </a:defRPr>
            </a:pPr>
            <a:r>
              <a:rPr sz="1400" dirty="0"/>
              <a:t>TAKEAWAY</a:t>
            </a:r>
          </a:p>
          <a:p>
            <a:pPr>
              <a:defRPr sz="1300">
                <a:solidFill>
                  <a:srgbClr val="EEF2F5"/>
                </a:solidFill>
                <a:latin typeface="Calibri"/>
              </a:defRPr>
            </a:pPr>
            <a:r>
              <a:rPr sz="1400" dirty="0" err="1"/>
              <a:t>TrailLink</a:t>
            </a:r>
            <a:r>
              <a:rPr sz="1400" dirty="0"/>
              <a:t> proves that multi-hop mesh networking, link quality awareness, voice communication, and emergency alerting can all be achieved on ordinary smartphones at zero additional hardware cost.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B020"/>
                </a:solidFill>
                <a:latin typeface="Calibri"/>
              </a:defRPr>
            </a:pPr>
            <a:r>
              <a:t>R26-IT-135  ·  TRAILLINK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EF2F5"/>
                </a:solidFill>
                <a:latin typeface="Calibri"/>
              </a:defRPr>
            </a:pPr>
            <a:r>
              <a:t>Thank You</a:t>
            </a:r>
          </a:p>
          <a:p>
            <a:pPr>
              <a:defRPr sz="2000">
                <a:solidFill>
                  <a:srgbClr val="FFB020"/>
                </a:solidFill>
                <a:latin typeface="Calibri"/>
              </a:defRPr>
            </a:pPr>
            <a:r>
              <a:t>Questions &amp; Discussion are welcome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2468880" cy="21031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474720"/>
            <a:ext cx="2139696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F2F5"/>
                </a:solidFill>
                <a:latin typeface="Calibri"/>
              </a:defRPr>
            </a:pPr>
            <a:r>
              <a:rPr dirty="0"/>
              <a:t>Thanujana D. O.</a:t>
            </a:r>
          </a:p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dirty="0"/>
              <a:t>IT22148704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Mesh Intelligence &amp; Compass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291840"/>
            <a:ext cx="2468880" cy="21031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39312" y="3474720"/>
            <a:ext cx="2139696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F2F5"/>
                </a:solidFill>
                <a:latin typeface="Calibri"/>
              </a:defRPr>
            </a:pPr>
            <a:r>
              <a:rPr dirty="0" err="1"/>
              <a:t>Pabodhana</a:t>
            </a:r>
            <a:r>
              <a:rPr dirty="0"/>
              <a:t> D. M. D. I.</a:t>
            </a:r>
          </a:p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dirty="0"/>
              <a:t>IT22168290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Communication Core &amp; Relay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2468880" cy="21031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3474720"/>
            <a:ext cx="2139696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F2F5"/>
                </a:solidFill>
                <a:latin typeface="Calibri"/>
              </a:defRPr>
            </a:pPr>
            <a:r>
              <a:rPr dirty="0" err="1"/>
              <a:t>Dulsara</a:t>
            </a:r>
            <a:r>
              <a:rPr dirty="0"/>
              <a:t> H. G. N.</a:t>
            </a:r>
          </a:p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dirty="0"/>
              <a:t>IT22544490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Location, Mapping &amp; SOS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3291840"/>
            <a:ext cx="2468880" cy="2103120"/>
          </a:xfrm>
          <a:prstGeom prst="roundRect">
            <a:avLst/>
          </a:prstGeom>
          <a:solidFill>
            <a:srgbClr val="151D27"/>
          </a:solidFill>
          <a:ln w="15240">
            <a:solidFill>
              <a:srgbClr val="24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25712" y="3474720"/>
            <a:ext cx="2139696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F2F5"/>
                </a:solidFill>
                <a:latin typeface="Calibri"/>
              </a:defRPr>
            </a:pPr>
            <a:r>
              <a:rPr dirty="0"/>
              <a:t>Vitharana G. G.</a:t>
            </a:r>
          </a:p>
          <a:p>
            <a:pPr>
              <a:defRPr sz="1300" b="1">
                <a:solidFill>
                  <a:srgbClr val="FFB020"/>
                </a:solidFill>
                <a:latin typeface="Calibri"/>
              </a:defRPr>
            </a:pPr>
            <a:r>
              <a:rPr dirty="0"/>
              <a:t>IT22894038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Voice &amp; Push-to-Talk (PTT)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296AA"/>
                </a:solidFill>
                <a:latin typeface="Calibri"/>
              </a:defRPr>
            </a:pPr>
            <a:r>
              <a:t>Faculty of Computing  ·  SLIIT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2513</Words>
  <Application>Microsoft Office PowerPoint</Application>
  <PresentationFormat>Widescreen</PresentationFormat>
  <Paragraphs>342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THANUJANA D O it22148704</cp:lastModifiedBy>
  <cp:revision>3</cp:revision>
  <dcterms:created xsi:type="dcterms:W3CDTF">2013-01-27T09:14:16Z</dcterms:created>
  <dcterms:modified xsi:type="dcterms:W3CDTF">2026-10-20T08:04:42Z</dcterms:modified>
  <cp:category/>
</cp:coreProperties>
</file>